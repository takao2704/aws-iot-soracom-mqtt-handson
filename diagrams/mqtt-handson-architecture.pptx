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1e597d13914f77" /><Relationship Type="http://schemas.openxmlformats.org/officeDocument/2006/relationships/extended-properties" Target="/docProps/app.xml" Id="R416b7ed60a4c418f" /><Relationship Type="http://schemas.openxmlformats.org/officeDocument/2006/relationships/officeDocument" Target="/ppt/presentation.xml" Id="R64c71faf8d3b4e0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b3bd5604b64a4e"/>
  </p:sldMasterIdLst>
  <p:notesMasterIdLst>
    <p:notesMasterId xmlns:r="http://schemas.openxmlformats.org/officeDocument/2006/relationships" r:id="R83d21c99b7774d51"/>
  </p:notesMasterIdLst>
  <p:sldIdLst>
    <p:sldId xmlns:r="http://schemas.openxmlformats.org/officeDocument/2006/relationships" id="256" r:id="R529e829772f54222"/>
    <p:sldId xmlns:r="http://schemas.openxmlformats.org/officeDocument/2006/relationships" id="257" r:id="Re3810b57fab247a4"/>
    <p:sldId xmlns:r="http://schemas.openxmlformats.org/officeDocument/2006/relationships" id="258" r:id="R36763f268fe2433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f9a422cc3c49a3" /><Relationship Type="http://schemas.openxmlformats.org/officeDocument/2006/relationships/slideMaster" Target="/ppt/slideMasters/slideMaster1.xml" Id="R39b3bd5604b64a4e" /><Relationship Type="http://schemas.openxmlformats.org/officeDocument/2006/relationships/notesMaster" Target="/ppt/notesMasters/notesMaster1.xml" Id="R83d21c99b7774d51" /><Relationship Type="http://schemas.openxmlformats.org/officeDocument/2006/relationships/presProps" Target="/ppt/presProps.xml" Id="Rb1cf52a0b933412d" /><Relationship Type="http://schemas.openxmlformats.org/officeDocument/2006/relationships/tableStyles" Target="/ppt/tableStyles.xml" Id="R1a64820faca24467" /><Relationship Type="http://schemas.openxmlformats.org/officeDocument/2006/relationships/slide" Target="/ppt/slides/slide1.xml" Id="R529e829772f54222" /><Relationship Type="http://schemas.openxmlformats.org/officeDocument/2006/relationships/slide" Target="/ppt/slides/slide2.xml" Id="Re3810b57fab247a4" /><Relationship Type="http://schemas.openxmlformats.org/officeDocument/2006/relationships/slide" Target="/ppt/slides/slide3.xml" Id="R36763f268fe243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78faeab7684b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5dcc27fa94b414d" /><Relationship Type="http://schemas.openxmlformats.org/officeDocument/2006/relationships/notesMaster" Target="/ppt/notesMasters/notesMaster1.xml" Id="R8470cecb7be549d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f661813ec9949f2" /><Relationship Type="http://schemas.openxmlformats.org/officeDocument/2006/relationships/notesMaster" Target="/ppt/notesMasters/notesMaster1.xml" Id="R6837389a9e9747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48517d3ca9491b" /><Relationship Type="http://schemas.openxmlformats.org/officeDocument/2006/relationships/notesMaster" Target="/ppt/notesMasters/notesMaster1.xml" Id="R69b1b15e8416477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AWS Architecture Icons Microsoft PPTX Toolkit, release 23-2026.01.30 (bundled skill asset)</a:t>
            </a:r>
          </a:p>
          <a:p xmlns:a="http://schemas.openxmlformats.org/drawingml/2006/main">
            <a:r>
              <a:t>- https://aws.amazon.com/architecture/icons/</a:t>
            </a:r>
          </a:p>
          <a:p xmlns:a="http://schemas.openxmlformats.org/drawingml/2006/main">
            <a:r>
              <a:t>- SORACOM Icon Set v2.6 (bundled skill asset)</a:t>
            </a:r>
          </a:p>
          <a:p xmlns:a="http://schemas.openxmlformats.org/drawingml/2006/main">
            <a:r>
              <a:t>- https://soracom.jp/share/sis_guideline/</a:t>
            </a:r>
          </a:p>
          <a:p xmlns:a="http://schemas.openxmlformats.org/drawingml/2006/main">
            <a:r>
              <a:t>- User-approved workshop architecture</a:t>
            </a:r>
          </a:p>
          <a:p xmlns:a="http://schemas.openxmlformats.org/drawingml/2006/main">
            <a:r>
              <a:t>- https://users.soracom.io/ja-jp/guides/devices/ud-lt2/forwarding-settings/</a:t>
            </a:r>
          </a:p>
          <a:p xmlns:a="http://schemas.openxmlformats.org/drawingml/2006/main">
            <a:r>
              <a:t>- https://users.soracom.io/ja-jp/docs/napter/login-with-ssh/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Official service and resource names:</a:t>
            </a:r>
          </a:p>
          <a:p xmlns:a="http://schemas.openxmlformats.org/drawingml/2006/main">
            <a:r>
              <a:t>- サーバーA</a:t>
            </a:r>
          </a:p>
          <a:p xmlns:a="http://schemas.openxmlformats.org/drawingml/2006/main">
            <a:r>
              <a:t>- 送信機A</a:t>
            </a:r>
          </a:p>
          <a:p xmlns:a="http://schemas.openxmlformats.org/drawingml/2006/main">
            <a:r>
              <a:t>- SORACOM Napter</a:t>
            </a:r>
          </a:p>
          <a:p xmlns:a="http://schemas.openxmlformats.org/drawingml/2006/main">
            <a:r>
              <a:t>- PC</a:t>
            </a:r>
          </a:p>
          <a:p xmlns:a="http://schemas.openxmlformats.org/drawingml/2006/main">
            <a:r>
              <a:t>- IoT SIM A (SIM badge)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Assumptions:</a:t>
            </a:r>
          </a:p>
          <a:p xmlns:a="http://schemas.openxmlformats.org/drawingml/2006/main">
            <a:r>
              <a:t>- UD-LT2の4G側ポート50022をRaspberry PiのLAN IPアドレスのTCP/22へDNATする。</a:t>
            </a:r>
          </a:p>
          <a:p xmlns:a="http://schemas.openxmlformats.org/drawingml/2006/main">
            <a:r>
              <a:t>- SORACOM NapterとUD-LT2はSSHを終端せず、SSH暗号化は操作PCからRaspberry Piまで継続する。</a:t>
            </a:r>
          </a:p>
          <a:p xmlns:a="http://schemas.openxmlformats.org/drawingml/2006/main">
            <a:r>
              <a:t>- アクセス元IPアドレスは操作PCへ限定し、Napterのアクセス可能時間は4時間とする。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AWS Architecture Icons Microsoft PPTX Toolkit, release 23-2026.01.30 (bundled skill asset)</a:t>
            </a:r>
          </a:p>
          <a:p xmlns:a="http://schemas.openxmlformats.org/drawingml/2006/main">
            <a:r>
              <a:t>- https://aws.amazon.com/architecture/icons/</a:t>
            </a:r>
          </a:p>
          <a:p xmlns:a="http://schemas.openxmlformats.org/drawingml/2006/main">
            <a:r>
              <a:t>- SORACOM Icon Set v2.6 (bundled skill asset)</a:t>
            </a:r>
          </a:p>
          <a:p xmlns:a="http://schemas.openxmlformats.org/drawingml/2006/main">
            <a:r>
              <a:t>- https://soracom.jp/share/sis_guideline/</a:t>
            </a:r>
          </a:p>
          <a:p xmlns:a="http://schemas.openxmlformats.org/drawingml/2006/main">
            <a:r>
              <a:t>- User-approved workshop architecture</a:t>
            </a:r>
          </a:p>
          <a:p xmlns:a="http://schemas.openxmlformats.org/drawingml/2006/main">
            <a:r>
              <a:t>- https://docs.aws.amazon.com/iot/latest/developerguide/protocols.html</a:t>
            </a:r>
          </a:p>
          <a:p xmlns:a="http://schemas.openxmlformats.org/drawingml/2006/main">
            <a:r>
              <a:t>- https://docs.aws.amazon.com/iot/latest/developerguide/x509-client-certs.html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Official service and resource names:</a:t>
            </a:r>
          </a:p>
          <a:p xmlns:a="http://schemas.openxmlformats.org/drawingml/2006/main">
            <a:r>
              <a:t>- サーバーA</a:t>
            </a:r>
          </a:p>
          <a:p xmlns:a="http://schemas.openxmlformats.org/drawingml/2006/main">
            <a:r>
              <a:t>- 送信機A</a:t>
            </a:r>
          </a:p>
          <a:p xmlns:a="http://schemas.openxmlformats.org/drawingml/2006/main">
            <a:r>
              <a:t>- AWS IoT Core</a:t>
            </a:r>
          </a:p>
          <a:p xmlns:a="http://schemas.openxmlformats.org/drawingml/2006/main">
            <a:r>
              <a:t>- IoT SIM A (SIM badge)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Assumptions:</a:t>
            </a:r>
          </a:p>
          <a:p xmlns:a="http://schemas.openxmlformats.org/drawingml/2006/main">
            <a:r>
              <a:t>- Raspberry PiはAWS IoT CoreのATSデータエンドポイントへMQTT 3.1.1 over TLSで接続する。</a:t>
            </a:r>
          </a:p>
          <a:p xmlns:a="http://schemas.openxmlformats.org/drawingml/2006/main">
            <a:r>
              <a:t>- MQTT Client IDはThing名と同じ値を使用し、PublishとSubscribeはQoS 1で確認する。</a:t>
            </a:r>
          </a:p>
          <a:p xmlns:a="http://schemas.openxmlformats.org/drawingml/2006/main">
            <a:r>
              <a:t>- UD-LT2はMQTTSセッションを終端せず、Raspberry PiとAWS IoT Core間の通信を転送する。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AWS Architecture Icons Microsoft PPTX Toolkit, release 23-2026.01.30 (bundled skill asset)</a:t>
            </a:r>
          </a:p>
          <a:p xmlns:a="http://schemas.openxmlformats.org/drawingml/2006/main">
            <a:r>
              <a:t>- https://aws.amazon.com/architecture/icons/</a:t>
            </a:r>
          </a:p>
          <a:p xmlns:a="http://schemas.openxmlformats.org/drawingml/2006/main">
            <a:r>
              <a:t>- SORACOM Icon Set v2.6 (bundled skill asset)</a:t>
            </a:r>
          </a:p>
          <a:p xmlns:a="http://schemas.openxmlformats.org/drawingml/2006/main">
            <a:r>
              <a:t>- https://soracom.jp/share/sis_guideline/</a:t>
            </a:r>
          </a:p>
          <a:p xmlns:a="http://schemas.openxmlformats.org/drawingml/2006/main">
            <a:r>
              <a:t>- User-approved workshop architecture</a:t>
            </a:r>
          </a:p>
          <a:p xmlns:a="http://schemas.openxmlformats.org/drawingml/2006/main">
            <a:r>
              <a:t>- https://users.soracom.io/ja-jp/docs/beam/aws-iot-console/</a:t>
            </a:r>
          </a:p>
          <a:p xmlns:a="http://schemas.openxmlformats.org/drawingml/2006/main">
            <a:r>
              <a:t>- https://users.soracom.io/ja-jp/guides/other-services/tools/mosquitto-clients/</a:t>
            </a:r>
          </a:p>
          <a:p xmlns:a="http://schemas.openxmlformats.org/drawingml/2006/main">
            <a:r>
              <a:t>- https://docs.aws.amazon.com/iot/latest/developerguide/protocols.html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Official service and resource names:</a:t>
            </a:r>
          </a:p>
          <a:p xmlns:a="http://schemas.openxmlformats.org/drawingml/2006/main">
            <a:r>
              <a:t>- サーバーA</a:t>
            </a:r>
          </a:p>
          <a:p xmlns:a="http://schemas.openxmlformats.org/drawingml/2006/main">
            <a:r>
              <a:t>- 送信機A</a:t>
            </a:r>
          </a:p>
          <a:p xmlns:a="http://schemas.openxmlformats.org/drawingml/2006/main">
            <a:r>
              <a:t>- SORACOM Beam</a:t>
            </a:r>
          </a:p>
          <a:p xmlns:a="http://schemas.openxmlformats.org/drawingml/2006/main">
            <a:r>
              <a:t>- AWS IoT Core</a:t>
            </a:r>
          </a:p>
          <a:p xmlns:a="http://schemas.openxmlformats.org/drawingml/2006/main">
            <a:r>
              <a:t>- IoT SIM A (SIM badge)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Assumptions:</a:t>
            </a:r>
          </a:p>
          <a:p xmlns:a="http://schemas.openxmlformats.org/drawingml/2006/main">
            <a:r>
              <a:t>- Raspberry PiはAWS IoT証明書を保持せず、beam.soracom.io:1883へMQTT 3.1.1で接続する。</a:t>
            </a:r>
          </a:p>
          <a:p xmlns:a="http://schemas.openxmlformats.org/drawingml/2006/main">
            <a:r>
              <a:t>- SORACOM Beamは認証情報ストアのX.509証明書を使用し、AWS IoT Coreへ8883/MQTTSで接続する。</a:t>
            </a:r>
          </a:p>
          <a:p xmlns:a="http://schemas.openxmlformats.org/drawingml/2006/main">
            <a:r>
              <a:t>- Pi–BeamとBeam–AWS IoT Coreは別々のMQTTセッションであり、PublishとSubscribeの双方向通信を扱う。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7fabced003470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f6bb1a64e54de2" /><Relationship Type="http://schemas.openxmlformats.org/officeDocument/2006/relationships/slideLayout" Target="/ppt/slideLayouts/slideLayout1.xml" Id="R65b464da629b49f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b464da629b49f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0790a0a8da4fbe" /><Relationship Type="http://schemas.openxmlformats.org/officeDocument/2006/relationships/image" Target="/ppt/media/image.png" Id="R7ffc683a3e914fa3" /><Relationship Type="http://schemas.openxmlformats.org/officeDocument/2006/relationships/image" Target="/ppt/media/image2.png" Id="R4ed5d3c0bc304a3f" /><Relationship Type="http://schemas.openxmlformats.org/officeDocument/2006/relationships/image" Target="/ppt/media/image3.png" Id="R28bce0ea80a04def" /><Relationship Type="http://schemas.openxmlformats.org/officeDocument/2006/relationships/image" Target="/ppt/media/image4.png" Id="R55bbd111a7a64004" /><Relationship Type="http://schemas.openxmlformats.org/officeDocument/2006/relationships/image" Target="/ppt/media/image5.png" Id="R8e1bc407af684fac" /><Relationship Type="http://schemas.openxmlformats.org/officeDocument/2006/relationships/image" Target="/ppt/media/image6.png" Id="Rbc7b53982f4e4562" /><Relationship Type="http://schemas.openxmlformats.org/officeDocument/2006/relationships/notesSlide" Target="/ppt/notesSlides/notesSlide1.xml" Id="R21a4f43445814d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e146994d7747ff" /><Relationship Type="http://schemas.openxmlformats.org/officeDocument/2006/relationships/image" Target="/ppt/media/image7.png" Id="R4736419d7dc14f23" /><Relationship Type="http://schemas.openxmlformats.org/officeDocument/2006/relationships/image" Target="/ppt/media/image.svg" Id="Rc1a05f2c903d44bd" /><Relationship Type="http://schemas.openxmlformats.org/officeDocument/2006/relationships/image" Target="/ppt/media/image8.png" Id="Ra1a319ab63914f6a" /><Relationship Type="http://schemas.openxmlformats.org/officeDocument/2006/relationships/image" Target="/ppt/media/image9.png" Id="R03cca9575fa44ac5" /><Relationship Type="http://schemas.openxmlformats.org/officeDocument/2006/relationships/image" Target="/ppt/media/image10.png" Id="Rb63ba9c1c1af4a33" /><Relationship Type="http://schemas.openxmlformats.org/officeDocument/2006/relationships/image" Target="/ppt/media/image2.svg" Id="R79e168789738475c" /><Relationship Type="http://schemas.openxmlformats.org/officeDocument/2006/relationships/notesSlide" Target="/ppt/notesSlides/notesSlide2.xml" Id="Rfb14e23e4e8240f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baec2fc5844545" /><Relationship Type="http://schemas.openxmlformats.org/officeDocument/2006/relationships/image" Target="/ppt/media/image11.png" Id="Re7288c970de7479e" /><Relationship Type="http://schemas.openxmlformats.org/officeDocument/2006/relationships/image" Target="/ppt/media/image3.svg" Id="R16b28f6aa22e41f1" /><Relationship Type="http://schemas.openxmlformats.org/officeDocument/2006/relationships/image" Target="/ppt/media/image12.png" Id="Rfaa6efcb0bc6449a" /><Relationship Type="http://schemas.openxmlformats.org/officeDocument/2006/relationships/image" Target="/ppt/media/image13.png" Id="Rdab22da3e1974fae" /><Relationship Type="http://schemas.openxmlformats.org/officeDocument/2006/relationships/image" Target="/ppt/media/image14.png" Id="R28078028ce2a47d4" /><Relationship Type="http://schemas.openxmlformats.org/officeDocument/2006/relationships/image" Target="/ppt/media/image15.png" Id="R0262e3ab75584299" /><Relationship Type="http://schemas.openxmlformats.org/officeDocument/2006/relationships/image" Target="/ppt/media/image16.png" Id="Re6a335d476584ba1" /><Relationship Type="http://schemas.openxmlformats.org/officeDocument/2006/relationships/image" Target="/ppt/media/image4.svg" Id="R6f0b29c2e97a4057" /><Relationship Type="http://schemas.openxmlformats.org/officeDocument/2006/relationships/notesSlide" Target="/ppt/notesSlides/notesSlide3.xml" Id="R63636cd532d04d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group-soracom">
            <a:extLst xmlns:a="http://schemas.openxmlformats.org/drawingml/2006/main">
              <a:ext uri="{FF2B5EF4-FFF2-40B4-BE49-F238E27FC236}">
                <a16:creationId xmlns:a16="http://schemas.microsoft.com/office/drawing/2014/main" id="{C61329A4-5C49-4216-8428-BB00897C4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19250"/>
            <a:ext cx="28575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32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2920" tIns="91440" rIns="91440" bIns="45720" anchor="t"/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SORACOM Platform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fc683a3e914fa3"/>
          <a:stretch xmlns:a="http://schemas.openxmlformats.org/drawingml/2006/main"/>
        </p:blipFill>
        <p:spPr>
          <a:xfrm xmlns:a="http://schemas.openxmlformats.org/drawingml/2006/main">
            <a:off x="4762500" y="16192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" name="anchor-raspberry-pi">
            <a:extLst xmlns:a="http://schemas.openxmlformats.org/drawingml/2006/main">
              <a:ext uri="{FF2B5EF4-FFF2-40B4-BE49-F238E27FC236}">
                <a16:creationId xmlns:a16="http://schemas.microsoft.com/office/drawing/2014/main" id="{2446B717-9697-4D4D-BF16-2E2FD1FF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anchor-ud-lt2">
            <a:extLst xmlns:a="http://schemas.openxmlformats.org/drawingml/2006/main">
              <a:ext uri="{FF2B5EF4-FFF2-40B4-BE49-F238E27FC236}">
                <a16:creationId xmlns:a16="http://schemas.microsoft.com/office/drawing/2014/main" id="{7B724666-8DDF-4E7D-897D-DD7FB4C97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6670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anchor-napter">
            <a:extLst xmlns:a="http://schemas.openxmlformats.org/drawingml/2006/main">
              <a:ext uri="{FF2B5EF4-FFF2-40B4-BE49-F238E27FC236}">
                <a16:creationId xmlns:a16="http://schemas.microsoft.com/office/drawing/2014/main" id="{6BA7BB73-0D03-4A20-88D7-79A4B738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6670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anchor-operator-pc">
            <a:extLst xmlns:a="http://schemas.openxmlformats.org/drawingml/2006/main">
              <a:ext uri="{FF2B5EF4-FFF2-40B4-BE49-F238E27FC236}">
                <a16:creationId xmlns:a16="http://schemas.microsoft.com/office/drawing/2014/main" id="{61D995BF-DBCF-4A9B-B46B-8FA22566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670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47" name=""/>
          <p:cNvCxnSpPr>
            <a:stCxn xmlns:a="http://schemas.openxmlformats.org/drawingml/2006/main" id="6" idx="1"/>
            <a:endCxn xmlns:a="http://schemas.openxmlformats.org/drawingml/2006/main" id="5" idx="3"/>
          </p:cNvCxnSpPr>
          <p:nvPr/>
        </p:nvCxnSpPr>
        <p:spPr>
          <a:xfrm xmlns:a="http://schemas.openxmlformats.org/drawingml/2006/main" flipH="1">
            <a:off x="6524625" y="3048000"/>
            <a:ext cx="3286125" cy="0"/>
          </a:xfrm>
          <a:prstGeom xmlns:a="http://schemas.openxmlformats.org/drawingml/2006/main" prst="straightConnector1">
            <a:avLst/>
          </a:prstGeom>
          <a:ln xmlns:a="http://schemas.openxmlformats.org/drawingml/2006/main" w="25432" cap="flat">
            <a:solidFill>
              <a:srgbClr val="545B64"/>
            </a:solidFill>
            <a:prstDash val="solid"/>
            <a:miter/>
            <a:headEnd type="arrow" w="med" len="med"/>
            <a:tailEnd type="arrow" w="med" len="med"/>
          </a:ln>
        </p:spPr>
      </p:cxnSp>
      <p:sp>
        <p:nvSpPr>
          <p:cNvPr id="8" name="edge-label-operator-pc-napter">
            <a:extLst xmlns:a="http://schemas.openxmlformats.org/drawingml/2006/main">
              <a:ext uri="{FF2B5EF4-FFF2-40B4-BE49-F238E27FC236}">
                <a16:creationId xmlns:a16="http://schemas.microsoft.com/office/drawing/2014/main" id="{0CD9E6B6-B1C2-45CB-8FBB-F231DDD08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1431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SSH / host:port</a:t>
            </a:r>
          </a:p>
        </p:txBody>
      </p:sp>
      <p:cxnSp>
        <p:nvCxnSpPr>
          <p:cNvPr id="49" name=""/>
          <p:cNvCxnSpPr>
            <a:stCxn xmlns:a="http://schemas.openxmlformats.org/drawingml/2006/main" id="5" idx="1"/>
            <a:endCxn xmlns:a="http://schemas.openxmlformats.org/drawingml/2006/main" id="4" idx="3"/>
          </p:cNvCxnSpPr>
          <p:nvPr/>
        </p:nvCxnSpPr>
        <p:spPr>
          <a:xfrm xmlns:a="http://schemas.openxmlformats.org/drawingml/2006/main" flipH="1">
            <a:off x="3476625" y="3048000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32" cap="flat">
            <a:solidFill>
              <a:srgbClr val="545B64"/>
            </a:solidFill>
            <a:prstDash val="solid"/>
            <a:miter/>
            <a:headEnd type="arrow" w="med" len="med"/>
            <a:tailEnd type="arrow" w="med" len="med"/>
          </a:ln>
        </p:spPr>
      </p:cxnSp>
      <p:sp>
        <p:nvSpPr>
          <p:cNvPr id="10" name="edge-label-napter-ud-lt2">
            <a:extLst xmlns:a="http://schemas.openxmlformats.org/drawingml/2006/main">
              <a:ext uri="{FF2B5EF4-FFF2-40B4-BE49-F238E27FC236}">
                <a16:creationId xmlns:a16="http://schemas.microsoft.com/office/drawing/2014/main" id="{654F14F8-D50A-4BC3-A8E0-D779A0BF5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431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4G側 :50022</a:t>
            </a:r>
          </a:p>
        </p:txBody>
      </p:sp>
      <p:cxnSp>
        <p:nvCxnSpPr>
          <p:cNvPr id="51" name=""/>
          <p:cNvCxnSpPr>
            <a:stCxn xmlns:a="http://schemas.openxmlformats.org/drawingml/2006/main" id="4" idx="1"/>
            <a:endCxn xmlns:a="http://schemas.openxmlformats.org/drawingml/2006/main" id="3" idx="3"/>
          </p:cNvCxnSpPr>
          <p:nvPr/>
        </p:nvCxnSpPr>
        <p:spPr>
          <a:xfrm xmlns:a="http://schemas.openxmlformats.org/drawingml/2006/main" flipH="1">
            <a:off x="1428750" y="3048000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25432" cap="flat">
            <a:solidFill>
              <a:srgbClr val="545B64"/>
            </a:solidFill>
            <a:prstDash val="solid"/>
            <a:miter/>
            <a:headEnd type="arrow" w="med" len="med"/>
            <a:tailEnd type="arrow" w="med" len="med"/>
          </a:ln>
        </p:spPr>
      </p:cxnSp>
      <p:sp>
        <p:nvSpPr>
          <p:cNvPr id="12" name="edge-label-ud-lt2-raspberry-pi">
            <a:extLst xmlns:a="http://schemas.openxmlformats.org/drawingml/2006/main">
              <a:ext uri="{FF2B5EF4-FFF2-40B4-BE49-F238E27FC236}">
                <a16:creationId xmlns:a16="http://schemas.microsoft.com/office/drawing/2014/main" id="{36F47581-3F4D-491A-9A4D-5BE85895B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43125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DNAT → Pi:22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d5d3c0bc304a3f"/>
          <a:stretch xmlns:a="http://schemas.openxmlformats.org/drawingml/2006/main"/>
        </p:blipFill>
        <p:spPr>
          <a:xfrm xmlns:a="http://schemas.openxmlformats.org/drawingml/2006/main">
            <a:off x="666750" y="26670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14" name="label-raspberry-pi">
            <a:extLst xmlns:a="http://schemas.openxmlformats.org/drawingml/2006/main">
              <a:ext uri="{FF2B5EF4-FFF2-40B4-BE49-F238E27FC236}">
                <a16:creationId xmlns:a16="http://schemas.microsoft.com/office/drawing/2014/main" id="{0868F757-2C5B-42D4-BE0A-2AD88DBEE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65" y="3429000"/>
            <a:ext cx="1506569" cy="461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Raspberry Pi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SSH :22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ce0ea80a04def"/>
          <a:stretch xmlns:a="http://schemas.openxmlformats.org/drawingml/2006/main"/>
        </p:blipFill>
        <p:spPr>
          <a:xfrm xmlns:a="http://schemas.openxmlformats.org/drawingml/2006/main">
            <a:off x="2714625" y="2667000"/>
            <a:ext cx="762000" cy="762000"/>
          </a:xfrm>
          <a:prstGeom xmlns:a="http://schemas.openxmlformats.org/drawingml/2006/main" prst="rect">
            <a:avLst/>
          </a:prstGeom>
        </p:spPr>
      </p:pic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bbd111a7a64004"/>
          <a:stretch xmlns:a="http://schemas.openxmlformats.org/drawingml/2006/main"/>
        </p:blipFill>
        <p:spPr>
          <a:xfrm xmlns:a="http://schemas.openxmlformats.org/drawingml/2006/main">
            <a:off x="3171825" y="31242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7" name="label-ud-lt2">
            <a:extLst xmlns:a="http://schemas.openxmlformats.org/drawingml/2006/main">
              <a:ext uri="{FF2B5EF4-FFF2-40B4-BE49-F238E27FC236}">
                <a16:creationId xmlns:a16="http://schemas.microsoft.com/office/drawing/2014/main" id="{702EC2E5-41D9-4BC8-943A-5FCB7D966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2340" y="3429000"/>
            <a:ext cx="1506569" cy="461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UD-LT2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DNAT</a:t>
            </a:r>
          </a:p>
        </p:txBody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1bc407af684fac"/>
          <a:stretch xmlns:a="http://schemas.openxmlformats.org/drawingml/2006/main"/>
        </p:blipFill>
        <p:spPr>
          <a:xfrm xmlns:a="http://schemas.openxmlformats.org/drawingml/2006/main">
            <a:off x="5762625" y="26670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19" name="label-napter">
            <a:extLst xmlns:a="http://schemas.openxmlformats.org/drawingml/2006/main">
              <a:ext uri="{FF2B5EF4-FFF2-40B4-BE49-F238E27FC236}">
                <a16:creationId xmlns:a16="http://schemas.microsoft.com/office/drawing/2014/main" id="{AB8C29C0-4D2D-4A5F-B027-E98142D4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0340" y="3429000"/>
            <a:ext cx="1506569" cy="461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SORACOM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Napter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7b53982f4e4562"/>
          <a:stretch xmlns:a="http://schemas.openxmlformats.org/drawingml/2006/main"/>
        </p:blipFill>
        <p:spPr>
          <a:xfrm xmlns:a="http://schemas.openxmlformats.org/drawingml/2006/main">
            <a:off x="9810750" y="26670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21" name="label-operator-pc">
            <a:extLst xmlns:a="http://schemas.openxmlformats.org/drawingml/2006/main">
              <a:ext uri="{FF2B5EF4-FFF2-40B4-BE49-F238E27FC236}">
                <a16:creationId xmlns:a16="http://schemas.microsoft.com/office/drawing/2014/main" id="{3D3E47BD-CE33-4CCA-B239-B2E63745F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8465" y="3429000"/>
            <a:ext cx="1506569" cy="27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操作PC</a:t>
            </a:r>
          </a:p>
        </p:txBody>
      </p:sp>
      <p:sp>
        <p:nvSpPr>
          <p:cNvPr id="22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B2162C4A-9E50-4D82-90F3-3599293E0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68" y="365093"/>
            <a:ext cx="11709464" cy="644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Napter経由のSSH管理経路</a:t>
            </a:r>
          </a:p>
        </p:txBody>
      </p:sp>
      <p:sp>
        <p:nvSpPr>
          <p:cNvPr id="23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5A1531FF-BF44-40CF-AD1C-DBD3EB08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3345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SSHは操作PCからRaspberry Piまで暗号化を維持し、NapterとUD-LT2はTCPを転送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roup-aws">
            <a:extLst xmlns:a="http://schemas.openxmlformats.org/drawingml/2006/main">
              <a:ext uri="{FF2B5EF4-FFF2-40B4-BE49-F238E27FC236}">
                <a16:creationId xmlns:a16="http://schemas.microsoft.com/office/drawing/2014/main" id="{A04E628D-BAF3-4380-93C0-8CEC56547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409575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32">
            <a:solidFill>
              <a:srgbClr val="232F3E"/>
            </a:solidFill>
            <a:prstDash val="solid"/>
          </a:ln>
        </p:spPr>
        <p:txBody>
          <a:bodyPr xmlns:a="http://schemas.openxmlformats.org/drawingml/2006/main" wrap="square" lIns="502920" tIns="91440" rIns="91440" bIns="45720" anchor="t"/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AWS Cloud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36419d7dc14f23">
            <a:extLst>
              <a:ext uri="{96DAC541-7B7A-43D3-8B79-37D633B846F1}">
                <asvg:svgBlip xmlns:asvg="http://schemas.microsoft.com/office/drawing/2016/SVG/main" r:embed="Rc1a05f2c903d44b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334250" y="161925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" name="anchor-raspberry-pi">
            <a:extLst xmlns:a="http://schemas.openxmlformats.org/drawingml/2006/main">
              <a:ext uri="{FF2B5EF4-FFF2-40B4-BE49-F238E27FC236}">
                <a16:creationId xmlns:a16="http://schemas.microsoft.com/office/drawing/2014/main" id="{F2CCE254-3ECB-4B88-9042-62783026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4" name="anchor-ud-lt2">
            <a:extLst xmlns:a="http://schemas.openxmlformats.org/drawingml/2006/main">
              <a:ext uri="{FF2B5EF4-FFF2-40B4-BE49-F238E27FC236}">
                <a16:creationId xmlns:a16="http://schemas.microsoft.com/office/drawing/2014/main" id="{FCFE6FB0-3736-4C03-B64F-2B587AAAF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5" name="anchor-aws-iot-core">
            <a:extLst xmlns:a="http://schemas.openxmlformats.org/drawingml/2006/main">
              <a:ext uri="{FF2B5EF4-FFF2-40B4-BE49-F238E27FC236}">
                <a16:creationId xmlns:a16="http://schemas.microsoft.com/office/drawing/2014/main" id="{F9110D64-107B-4446-BE16-07DAC2C13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76225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3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1524000" y="314325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25432" cap="flat">
            <a:solidFill>
              <a:srgbClr val="545B64"/>
            </a:solidFill>
            <a:prstDash val="solid"/>
            <a:miter/>
            <a:headEnd type="arrow" w="med" len="med"/>
            <a:tailEnd type="arrow" w="med" len="med"/>
          </a:ln>
        </p:spPr>
      </p:cxnSp>
      <p:sp>
        <p:nvSpPr>
          <p:cNvPr id="7" name="edge-label-raspberry-pi-ud-lt2">
            <a:extLst xmlns:a="http://schemas.openxmlformats.org/drawingml/2006/main">
              <a:ext uri="{FF2B5EF4-FFF2-40B4-BE49-F238E27FC236}">
                <a16:creationId xmlns:a16="http://schemas.microsoft.com/office/drawing/2014/main" id="{D99845DE-12C2-4F7F-92ED-7E2C52BAD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90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MQTTS（透過）</a:t>
            </a:r>
          </a:p>
        </p:txBody>
      </p:sp>
      <p:cxnSp>
        <p:nvCxnSpPr>
          <p:cNvPr id="39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05250" y="3143250"/>
            <a:ext cx="5095875" cy="0"/>
          </a:xfrm>
          <a:prstGeom xmlns:a="http://schemas.openxmlformats.org/drawingml/2006/main" prst="straightConnector1">
            <a:avLst/>
          </a:prstGeom>
          <a:ln xmlns:a="http://schemas.openxmlformats.org/drawingml/2006/main" w="25432" cap="flat">
            <a:solidFill>
              <a:srgbClr val="545B64"/>
            </a:solidFill>
            <a:prstDash val="solid"/>
            <a:miter/>
            <a:headEnd type="arrow" w="med" len="med"/>
            <a:tailEnd type="arrow" w="med" len="med"/>
          </a:ln>
        </p:spPr>
      </p:cxnSp>
      <p:sp>
        <p:nvSpPr>
          <p:cNvPr id="9" name="edge-label-ud-lt2-aws-iot-core">
            <a:extLst xmlns:a="http://schemas.openxmlformats.org/drawingml/2006/main">
              <a:ext uri="{FF2B5EF4-FFF2-40B4-BE49-F238E27FC236}">
                <a16:creationId xmlns:a16="http://schemas.microsoft.com/office/drawing/2014/main" id="{202C2425-35A4-47F7-B420-F943C553E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MQTTS / TLS / 8883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319ab63914f6a"/>
          <a:stretch xmlns:a="http://schemas.openxmlformats.org/drawingml/2006/main"/>
        </p:blipFill>
        <p:spPr>
          <a:xfrm xmlns:a="http://schemas.openxmlformats.org/drawingml/2006/main">
            <a:off x="762000" y="276225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11" name="label-raspberry-pi">
            <a:extLst xmlns:a="http://schemas.openxmlformats.org/drawingml/2006/main">
              <a:ext uri="{FF2B5EF4-FFF2-40B4-BE49-F238E27FC236}">
                <a16:creationId xmlns:a16="http://schemas.microsoft.com/office/drawing/2014/main" id="{3C20605C-BCC6-4E6A-AC17-3BBF15005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715" y="3524250"/>
            <a:ext cx="1506569" cy="461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Raspberry Pi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X.509保持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cca9575fa44ac5"/>
          <a:stretch xmlns:a="http://schemas.openxmlformats.org/drawingml/2006/main"/>
        </p:blipFill>
        <p:spPr>
          <a:xfrm xmlns:a="http://schemas.openxmlformats.org/drawingml/2006/main">
            <a:off x="3143250" y="2762250"/>
            <a:ext cx="762000" cy="762000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ba9c1c1af4a33"/>
          <a:stretch xmlns:a="http://schemas.openxmlformats.org/drawingml/2006/main"/>
        </p:blipFill>
        <p:spPr>
          <a:xfrm xmlns:a="http://schemas.openxmlformats.org/drawingml/2006/main">
            <a:off x="3600450" y="32194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4" name="label-ud-lt2">
            <a:extLst xmlns:a="http://schemas.openxmlformats.org/drawingml/2006/main">
              <a:ext uri="{FF2B5EF4-FFF2-40B4-BE49-F238E27FC236}">
                <a16:creationId xmlns:a16="http://schemas.microsoft.com/office/drawing/2014/main" id="{85C375D1-51D1-463A-A48F-39B62EF73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965" y="3524250"/>
            <a:ext cx="1506569" cy="27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UD-LT2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a319ab63914f6a">
            <a:extLst>
              <a:ext uri="{96DAC541-7B7A-43D3-8B79-37D633B846F1}">
                <asvg:svgBlip xmlns:asvg="http://schemas.microsoft.com/office/drawing/2016/SVG/main" r:embed="R79e168789738475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001125" y="276225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16" name="label-aws-iot-core">
            <a:extLst xmlns:a="http://schemas.openxmlformats.org/drawingml/2006/main">
              <a:ext uri="{FF2B5EF4-FFF2-40B4-BE49-F238E27FC236}">
                <a16:creationId xmlns:a16="http://schemas.microsoft.com/office/drawing/2014/main" id="{22F2465F-2A8F-4426-B3C5-881FD4514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8840" y="3524250"/>
            <a:ext cx="1506569" cy="27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AWS IoT Core</a:t>
            </a:r>
          </a:p>
        </p:txBody>
      </p:sp>
      <p:sp>
        <p:nvSpPr>
          <p:cNvPr id="17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A52D3808-2855-45AD-9F84-7DADBC28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68" y="365093"/>
            <a:ext cx="11709464" cy="644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AWS IoT Coreへの直接MQTTS接続</a:t>
            </a:r>
          </a:p>
        </p:txBody>
      </p:sp>
      <p:sp>
        <p:nvSpPr>
          <p:cNvPr id="18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3F0326D0-9636-4B6B-B33D-B6DD4B46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3345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TLS終端はRaspberry PiとAWS IoT Core／X.509証明書と秘密鍵はRaspberry Piで保持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group-soracom">
            <a:extLst xmlns:a="http://schemas.openxmlformats.org/drawingml/2006/main">
              <a:ext uri="{FF2B5EF4-FFF2-40B4-BE49-F238E27FC236}">
                <a16:creationId xmlns:a16="http://schemas.microsoft.com/office/drawing/2014/main" id="{BD80AEA3-7B75-40DA-BD7F-58B99154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524000"/>
            <a:ext cx="247650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32">
            <a:solidFill>
              <a:srgbClr val="000000"/>
            </a:solidFill>
            <a:prstDash val="solid"/>
          </a:ln>
        </p:spPr>
        <p:txBody>
          <a:bodyPr xmlns:a="http://schemas.openxmlformats.org/drawingml/2006/main" wrap="square" lIns="502920" tIns="91440" rIns="91440" bIns="45720" anchor="t"/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SORACOM Platform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88c970de7479e"/>
          <a:stretch xmlns:a="http://schemas.openxmlformats.org/drawingml/2006/main"/>
        </p:blipFill>
        <p:spPr>
          <a:xfrm xmlns:a="http://schemas.openxmlformats.org/drawingml/2006/main">
            <a:off x="4953000" y="15240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3" name="group-aws">
            <a:extLst xmlns:a="http://schemas.openxmlformats.org/drawingml/2006/main">
              <a:ext uri="{FF2B5EF4-FFF2-40B4-BE49-F238E27FC236}">
                <a16:creationId xmlns:a16="http://schemas.microsoft.com/office/drawing/2014/main" id="{E25DD404-6A19-4379-A426-B6C67104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3337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5432">
            <a:solidFill>
              <a:srgbClr val="232F3E"/>
            </a:solidFill>
            <a:prstDash val="solid"/>
          </a:ln>
        </p:spPr>
        <p:txBody>
          <a:bodyPr xmlns:a="http://schemas.openxmlformats.org/drawingml/2006/main" wrap="square" lIns="502920" tIns="91440" rIns="91440" bIns="45720" anchor="t"/>
          <a:lstStyle xmlns:a="http://schemas.openxmlformats.org/drawingml/2006/main"/>
          <a:p xmlns:a="http://schemas.openxmlformats.org/drawingml/2006/main">
            <a:pPr algn="l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AWS Cloud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88c970de7479e">
            <a:extLst>
              <a:ext uri="{96DAC541-7B7A-43D3-8B79-37D633B846F1}">
                <asvg:svgBlip xmlns:asvg="http://schemas.microsoft.com/office/drawing/2016/SVG/main" r:embed="R16b28f6aa22e41f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91500" y="15240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5" name="anchor-raspberry-pi">
            <a:extLst xmlns:a="http://schemas.openxmlformats.org/drawingml/2006/main">
              <a:ext uri="{FF2B5EF4-FFF2-40B4-BE49-F238E27FC236}">
                <a16:creationId xmlns:a16="http://schemas.microsoft.com/office/drawing/2014/main" id="{03B54560-3366-4E69-A4D2-92EFF2C5F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28575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anchor-ud-lt2">
            <a:extLst xmlns:a="http://schemas.openxmlformats.org/drawingml/2006/main">
              <a:ext uri="{FF2B5EF4-FFF2-40B4-BE49-F238E27FC236}">
                <a16:creationId xmlns:a16="http://schemas.microsoft.com/office/drawing/2014/main" id="{C8A37BEC-B4F4-44A6-BD2B-F7E21E5BB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575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7" name="anchor-beam">
            <a:extLst xmlns:a="http://schemas.openxmlformats.org/drawingml/2006/main">
              <a:ext uri="{FF2B5EF4-FFF2-40B4-BE49-F238E27FC236}">
                <a16:creationId xmlns:a16="http://schemas.microsoft.com/office/drawing/2014/main" id="{D15D63D4-A21D-4A89-A72C-317A87C02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575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anchor-aws-iot-core">
            <a:extLst xmlns:a="http://schemas.openxmlformats.org/drawingml/2006/main">
              <a:ext uri="{FF2B5EF4-FFF2-40B4-BE49-F238E27FC236}">
                <a16:creationId xmlns:a16="http://schemas.microsoft.com/office/drawing/2014/main" id="{F148AB36-78FA-4FB0-8D32-6D4ABA48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857500"/>
            <a:ext cx="762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cxnSp>
        <p:nvCxnSpPr>
          <p:cNvPr id="54" name="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190625" y="3238500"/>
            <a:ext cx="1381125" cy="0"/>
          </a:xfrm>
          <a:prstGeom xmlns:a="http://schemas.openxmlformats.org/drawingml/2006/main" prst="straightConnector1">
            <a:avLst/>
          </a:prstGeom>
          <a:ln xmlns:a="http://schemas.openxmlformats.org/drawingml/2006/main" w="25432" cap="flat">
            <a:solidFill>
              <a:srgbClr val="545B64"/>
            </a:solidFill>
            <a:prstDash val="solid"/>
            <a:miter/>
            <a:headEnd type="arrow" w="med" len="med"/>
            <a:tailEnd type="arrow" w="med" len="med"/>
          </a:ln>
        </p:spPr>
      </p:cxnSp>
      <p:sp>
        <p:nvSpPr>
          <p:cNvPr id="10" name="edge-label-raspberry-pi-ud-lt2">
            <a:extLst xmlns:a="http://schemas.openxmlformats.org/drawingml/2006/main">
              <a:ext uri="{FF2B5EF4-FFF2-40B4-BE49-F238E27FC236}">
                <a16:creationId xmlns:a16="http://schemas.microsoft.com/office/drawing/2014/main" id="{EE969207-1417-4274-9ADA-D3923ACCD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86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MQTT / 1883</a:t>
            </a:r>
          </a:p>
        </p:txBody>
      </p:sp>
      <p:cxnSp>
        <p:nvCxnSpPr>
          <p:cNvPr id="56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333750" y="3238500"/>
            <a:ext cx="2476500" cy="0"/>
          </a:xfrm>
          <a:prstGeom xmlns:a="http://schemas.openxmlformats.org/drawingml/2006/main" prst="straightConnector1">
            <a:avLst/>
          </a:prstGeom>
          <a:ln xmlns:a="http://schemas.openxmlformats.org/drawingml/2006/main" w="25432" cap="flat">
            <a:solidFill>
              <a:srgbClr val="545B64"/>
            </a:solidFill>
            <a:prstDash val="solid"/>
            <a:miter/>
            <a:headEnd type="arrow" w="med" len="med"/>
            <a:tailEnd type="arrow" w="med" len="med"/>
          </a:ln>
        </p:spPr>
      </p:cxnSp>
      <p:sp>
        <p:nvSpPr>
          <p:cNvPr id="12" name="edge-label-ud-lt2-beam">
            <a:extLst xmlns:a="http://schemas.openxmlformats.org/drawingml/2006/main">
              <a:ext uri="{FF2B5EF4-FFF2-40B4-BE49-F238E27FC236}">
                <a16:creationId xmlns:a16="http://schemas.microsoft.com/office/drawing/2014/main" id="{AF11D4EA-AC07-4831-89BB-62E82ACB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286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beam.soracom.io</a:t>
            </a:r>
          </a:p>
        </p:txBody>
      </p:sp>
      <p:cxnSp>
        <p:nvCxnSpPr>
          <p:cNvPr id="58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572250" y="3238500"/>
            <a:ext cx="2905125" cy="0"/>
          </a:xfrm>
          <a:prstGeom xmlns:a="http://schemas.openxmlformats.org/drawingml/2006/main" prst="straightConnector1">
            <a:avLst/>
          </a:prstGeom>
          <a:ln xmlns:a="http://schemas.openxmlformats.org/drawingml/2006/main" w="25432" cap="flat">
            <a:solidFill>
              <a:srgbClr val="545B64"/>
            </a:solidFill>
            <a:prstDash val="solid"/>
            <a:miter/>
            <a:headEnd type="arrow" w="med" len="med"/>
            <a:tailEnd type="arrow" w="med" len="med"/>
          </a:ln>
        </p:spPr>
      </p:cxnSp>
      <p:sp>
        <p:nvSpPr>
          <p:cNvPr id="14" name="edge-label-beam-aws-iot-core">
            <a:extLst xmlns:a="http://schemas.openxmlformats.org/drawingml/2006/main">
              <a:ext uri="{FF2B5EF4-FFF2-40B4-BE49-F238E27FC236}">
                <a16:creationId xmlns:a16="http://schemas.microsoft.com/office/drawing/2014/main" id="{7390E6A0-F565-4F35-9735-A0D86D130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2860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28575" tIns="19050" rIns="28575" bIns="19050" anchor="ctr"/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MQTTS / TLS / 8883</a:t>
            </a:r>
          </a:p>
        </p:txBody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6efcb0bc6449a"/>
          <a:stretch xmlns:a="http://schemas.openxmlformats.org/drawingml/2006/main"/>
        </p:blipFill>
        <p:spPr>
          <a:xfrm xmlns:a="http://schemas.openxmlformats.org/drawingml/2006/main">
            <a:off x="428625" y="28575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16" name="label-raspberry-pi">
            <a:extLst xmlns:a="http://schemas.openxmlformats.org/drawingml/2006/main">
              <a:ext uri="{FF2B5EF4-FFF2-40B4-BE49-F238E27FC236}">
                <a16:creationId xmlns:a16="http://schemas.microsoft.com/office/drawing/2014/main" id="{66EC5382-B670-4211-A913-F4CB4AC90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40" y="3619500"/>
            <a:ext cx="1506569" cy="4616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Raspberry Pi</a:t>
            </a:r>
          </a:p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証明書なし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b22da3e1974fae"/>
          <a:stretch xmlns:a="http://schemas.openxmlformats.org/drawingml/2006/main"/>
        </p:blipFill>
        <p:spPr>
          <a:xfrm xmlns:a="http://schemas.openxmlformats.org/drawingml/2006/main">
            <a:off x="2571750" y="2857500"/>
            <a:ext cx="762000" cy="762000"/>
          </a:xfrm>
          <a:prstGeom xmlns:a="http://schemas.openxmlformats.org/drawingml/2006/main" prst="rect">
            <a:avLst/>
          </a:prstGeom>
        </p:spPr>
      </p:pic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78028ce2a47d4"/>
          <a:stretch xmlns:a="http://schemas.openxmlformats.org/drawingml/2006/main"/>
        </p:blipFill>
        <p:spPr>
          <a:xfrm xmlns:a="http://schemas.openxmlformats.org/drawingml/2006/main">
            <a:off x="3028950" y="33147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9" name="label-ud-lt2">
            <a:extLst xmlns:a="http://schemas.openxmlformats.org/drawingml/2006/main">
              <a:ext uri="{FF2B5EF4-FFF2-40B4-BE49-F238E27FC236}">
                <a16:creationId xmlns:a16="http://schemas.microsoft.com/office/drawing/2014/main" id="{501E5EAE-86DE-404D-BAE1-913D3115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465" y="3619500"/>
            <a:ext cx="1506569" cy="27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UD-LT2</a:t>
            </a:r>
          </a:p>
        </p:txBody>
      </p:sp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62e3ab75584299"/>
          <a:stretch xmlns:a="http://schemas.openxmlformats.org/drawingml/2006/main"/>
        </p:blipFill>
        <p:spPr>
          <a:xfrm xmlns:a="http://schemas.openxmlformats.org/drawingml/2006/main">
            <a:off x="5810250" y="28575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21" name="label-beam">
            <a:extLst xmlns:a="http://schemas.openxmlformats.org/drawingml/2006/main">
              <a:ext uri="{FF2B5EF4-FFF2-40B4-BE49-F238E27FC236}">
                <a16:creationId xmlns:a16="http://schemas.microsoft.com/office/drawing/2014/main" id="{D614D7A4-A7D3-4708-8592-000542C4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7965" y="3619500"/>
            <a:ext cx="1506569" cy="27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SORACOM Beam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a335d476584ba1">
            <a:extLst>
              <a:ext uri="{96DAC541-7B7A-43D3-8B79-37D633B846F1}">
                <asvg:svgBlip xmlns:asvg="http://schemas.microsoft.com/office/drawing/2016/SVG/main" r:embed="R6f0b29c2e97a405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477375" y="2857500"/>
            <a:ext cx="762000" cy="762000"/>
          </a:xfrm>
          <a:prstGeom xmlns:a="http://schemas.openxmlformats.org/drawingml/2006/main" prst="rect">
            <a:avLst/>
          </a:prstGeom>
        </p:spPr>
      </p:pic>
      <p:sp>
        <p:nvSpPr>
          <p:cNvPr id="23" name="label-aws-iot-core">
            <a:extLst xmlns:a="http://schemas.openxmlformats.org/drawingml/2006/main">
              <a:ext uri="{FF2B5EF4-FFF2-40B4-BE49-F238E27FC236}">
                <a16:creationId xmlns:a16="http://schemas.microsoft.com/office/drawing/2014/main" id="{59F7F2DE-3D23-4078-B3A7-DFC3B4A5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090" y="3619500"/>
            <a:ext cx="1506569" cy="2769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19050" tIns="19050" rIns="19050" bIns="1905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00">
                <a:solidFill>
                  <a:srgbClr val="000000"/>
                </a:solidFill>
                <a:latin typeface="Arial"/>
                <a:ea typeface="Arial"/>
                <a:cs typeface="Arial"/>
              </a:rPr>
              <a:t>AWS IoT Core</a:t>
            </a:r>
          </a:p>
        </p:txBody>
      </p:sp>
      <p:sp>
        <p:nvSpPr>
          <p:cNvPr id="24" name="architecture-title">
            <a:extLst xmlns:a="http://schemas.openxmlformats.org/drawingml/2006/main">
              <a:ext uri="{FF2B5EF4-FFF2-40B4-BE49-F238E27FC236}">
                <a16:creationId xmlns:a16="http://schemas.microsoft.com/office/drawing/2014/main" id="{8B6A2467-95CD-4A43-844A-86F01C745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68" y="365093"/>
            <a:ext cx="11709464" cy="6445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SORACOM Beam経由のMQTT接続</a:t>
            </a:r>
          </a:p>
        </p:txBody>
      </p:sp>
      <p:sp>
        <p:nvSpPr>
          <p:cNvPr id="25" name="architecture-subtitle">
            <a:extLst xmlns:a="http://schemas.openxmlformats.org/drawingml/2006/main">
              <a:ext uri="{FF2B5EF4-FFF2-40B4-BE49-F238E27FC236}">
                <a16:creationId xmlns:a16="http://schemas.microsoft.com/office/drawing/2014/main" id="{F7D0964F-54B9-43EB-B376-D64FFAC5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933450"/>
            <a:ext cx="1152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000000"/>
                </a:solidFill>
                <a:latin typeface="Arial"/>
                <a:ea typeface="Arial"/>
                <a:cs typeface="Arial"/>
              </a:rPr>
              <a:t>Pi–BeamはMQTT、Beam–AWSはMQTTSの別セッション／X.509証明書はSORACOMで保持</a:t>
            </a:r>
          </a:p>
        </p:txBody>
      </p:sp>
    </p:spTree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2026-08-23T16:10:42.0410000Z</dcterms:created>
  <dcterms:modified xsi:type="dcterms:W3CDTF">2026-08-23T16:10:42.0410000Z</dcterms:modified>
</coreProperties>
</file>